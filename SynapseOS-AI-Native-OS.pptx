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67167" y="1005840"/>
            <a:ext cx="3566160" cy="18288"/>
          </a:xfrm>
          <a:prstGeom prst="rect">
            <a:avLst/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70088" y="1389888"/>
            <a:ext cx="3063239" cy="18288"/>
          </a:xfrm>
          <a:prstGeom prst="rect">
            <a:avLst/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73007" y="1773936"/>
            <a:ext cx="2560320" cy="18288"/>
          </a:xfrm>
          <a:prstGeom prst="rect">
            <a:avLst/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932688" cy="9326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239572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6A0F6"/>
                </a:solidFill>
                <a:latin typeface="Inter"/>
              </a:rPr>
              <a:t>AN OPERATING SYSTEM WITH A 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98064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Inter"/>
              </a:rPr>
              <a:t>SynapseOS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41648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650" b="0">
                <a:solidFill>
                  <a:srgbClr val="A5ADCB"/>
                </a:solidFill>
                <a:latin typeface="Inter"/>
              </a:rPr>
              <a:t>An AI-native Linux distribution where the assistant is a system service — it sees your messages, apps and processes, and acts on them under permission you control.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828800" cy="32004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5596128"/>
            <a:ext cx="1819656" cy="274320"/>
          </a:xfrm>
          <a:prstGeom prst="roundRect">
            <a:avLst>
              <a:gd name="adj" fmla="val 50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655564"/>
            <a:ext cx="18196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8AADF4"/>
                </a:solidFill>
                <a:latin typeface="Inter"/>
              </a:rPr>
              <a:t>Arch + Plasma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2" y="5596128"/>
            <a:ext cx="2423160" cy="274320"/>
          </a:xfrm>
          <a:prstGeom prst="roundRect">
            <a:avLst>
              <a:gd name="adj" fmla="val 50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752" y="5655564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8BD5CA"/>
                </a:solidFill>
                <a:latin typeface="Inter"/>
              </a:rPr>
              <a:t>Local-first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5596128"/>
            <a:ext cx="2724912" cy="274320"/>
          </a:xfrm>
          <a:prstGeom prst="roundRect">
            <a:avLst>
              <a:gd name="adj" fmla="val 50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5655564"/>
            <a:ext cx="27249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A6DA95"/>
                </a:solidFill>
                <a:latin typeface="Inter"/>
              </a:rPr>
              <a:t>Capability-gated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5596128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5655564"/>
            <a:ext cx="21214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ED49F"/>
                </a:solidFill>
                <a:latin typeface="Inter"/>
              </a:rPr>
              <a:t>Open connector 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272784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E738D"/>
                </a:solidFill>
                <a:latin typeface="Inter"/>
              </a:rPr>
              <a:t>Concept &amp; architecture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AI is the smartest thing on your machine, and the most blind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8132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A5ADCB"/>
                </a:solidFill>
                <a:latin typeface="Inter"/>
              </a:rPr>
              <a:t>Today's assistant lives in a tab. It cannot see what you see, and it cannot touch anything.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9696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286000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ED8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359152"/>
            <a:ext cx="301538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You are the integration layer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Copy, paste, screenshot, re-explain. Every task starts by rebuilding context the machine already has.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0410" y="2139696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50410" y="2286000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4730" y="2359152"/>
            <a:ext cx="301538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Context is shattered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Telegram, WhatsApp, Slack, Gmail, Discord. Six inboxes, no shared timeline, nothing correlated.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2452" y="2139696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2452" y="2286000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EED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6772" y="2359152"/>
            <a:ext cx="301538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Attention has no filter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Hundreds of notifications a day, ranked by arrival time instead of by what actually needs you.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041648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187952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261104"/>
            <a:ext cx="301538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It cannot act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No assistant can close the runaway process draining your battery, even when it can name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0410" y="4041648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50410" y="4187952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4730" y="4261104"/>
            <a:ext cx="301538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The OS knows, and tells no one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/proc, D-Bus and the window manager expose rich state. No reasoning layer ever consumes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2452" y="4041648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2452" y="4187952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6772" y="4261104"/>
            <a:ext cx="301538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Bolt-on integrations rot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Per-app plugins duplicate auth, permissions and memory. Nothing composes across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Put the assistant inside the OS, not on top of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874959" cy="1874519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41148" cy="1581911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1755648"/>
            <a:ext cx="9869119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nter"/>
              </a:rPr>
              <a:t>SynapseOS treats intelligence as a system service. One privileged reasoning layer perceives the whole machine — messages, windows, processes, files — and can act on it through a permission model the user owns.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75888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822192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895344"/>
            <a:ext cx="301538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One brain, not twelve plugins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A single core with shared memory, identity and policy. Apps plug into it instead of each shipping their own assistant.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0410" y="3675888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50410" y="3822192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4730" y="3895344"/>
            <a:ext cx="301538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Perception is first-class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Message streams, app state and the process table are OS-level inputs, sampled continuously and normalised.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2452" y="3675888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2452" y="3822192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6772" y="3895344"/>
            <a:ext cx="301538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Action is capability-gated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Every effect — send, launch, kill, throttle — is a scoped, revocable, audited capability call. Denied by default.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What it feels like to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874959" cy="7863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41148" cy="493776"/>
          </a:xfrm>
          <a:prstGeom prst="roundRect">
            <a:avLst>
              <a:gd name="adj" fmla="val 50000"/>
            </a:avLst>
          </a:prstGeom>
          <a:solidFill>
            <a:srgbClr val="7D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481328"/>
            <a:ext cx="3200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“What did I miss?”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3088" y="1645920"/>
            <a:ext cx="10972" cy="457200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481328"/>
            <a:ext cx="6851599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One briefing across every account: three messages need a reply, one is blocking someone, the rest are noise. Grouped by person and project, not by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386584"/>
            <a:ext cx="10874959" cy="7863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532888"/>
            <a:ext cx="41148" cy="493776"/>
          </a:xfrm>
          <a:prstGeom prst="roundRect">
            <a:avLst>
              <a:gd name="adj" fmla="val 50000"/>
            </a:avLst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386584"/>
            <a:ext cx="3200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“Why is my laptop hot?”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3088" y="2551176"/>
            <a:ext cx="10972" cy="457200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386584"/>
            <a:ext cx="6851599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Names the process, shows what it cost you in CPU, RAM and battery, explains what it belongs to, and offers to throttle or kill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91840"/>
            <a:ext cx="10874959" cy="7863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438144"/>
            <a:ext cx="41148" cy="493776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291840"/>
            <a:ext cx="3200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“Reply to Arjun about Friday”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3088" y="3456432"/>
            <a:ext cx="10972" cy="457200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291840"/>
            <a:ext cx="6851599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Finds the thread in Telegram, reads the context, drafts in your voice, shows you the draft. Nothing sends until you approve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97096"/>
            <a:ext cx="10874959" cy="7863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343400"/>
            <a:ext cx="41148" cy="493776"/>
          </a:xfrm>
          <a:prstGeom prst="roundRect">
            <a:avLst>
              <a:gd name="adj" fmla="val 50000"/>
            </a:avLst>
          </a:prstGeom>
          <a:solidFill>
            <a:srgbClr val="EED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197096"/>
            <a:ext cx="3200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“Set me up for the demo”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33088" y="4361688"/>
            <a:ext cx="10972" cy="457200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1688" y="4197096"/>
            <a:ext cx="6851599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Launches the editor, dev server and browser, mutes non-urgent connectors, and restores the workspace afterwards.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102352"/>
            <a:ext cx="10874959" cy="7863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248656"/>
            <a:ext cx="41148" cy="493776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102352"/>
            <a:ext cx="3200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It speaks first, when it matters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3088" y="5266944"/>
            <a:ext cx="10972" cy="457200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5102352"/>
            <a:ext cx="6851599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A build failed, a deadline moved, a disk is nearly full. Proactive only inside the limits you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Five layers, one loop: perceive → reason → 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9137599" cy="76809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41148" cy="475488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481328"/>
            <a:ext cx="22860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6A0F6"/>
                </a:solidFill>
                <a:latin typeface="Inter"/>
              </a:rPr>
              <a:t>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481328"/>
            <a:ext cx="6211519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Overlay · global hotkey · voice · CLI · Plasma widget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386584"/>
            <a:ext cx="9137599" cy="76809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532888"/>
            <a:ext cx="41148" cy="475488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386584"/>
            <a:ext cx="22860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8AADF4"/>
                </a:solidFill>
                <a:latin typeface="Inter"/>
              </a:rPr>
              <a:t>Synapse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386584"/>
            <a:ext cx="6211519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Planner · memory · policy engine · model router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91840"/>
            <a:ext cx="9137599" cy="76809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38144"/>
            <a:ext cx="41148" cy="475488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291840"/>
            <a:ext cx="22860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8BD5CA"/>
                </a:solidFill>
                <a:latin typeface="Inter"/>
              </a:rPr>
              <a:t>Perception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291840"/>
            <a:ext cx="6211519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Message bus · window &amp; focus state · process table · file index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97096"/>
            <a:ext cx="9137599" cy="76809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343400"/>
            <a:ext cx="41148" cy="475488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197096"/>
            <a:ext cx="22860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6DA95"/>
                </a:solidFill>
                <a:latin typeface="Inter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4197096"/>
            <a:ext cx="6211519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Connector API · process control · input synthesis · shell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102352"/>
            <a:ext cx="9137599" cy="76809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248656"/>
            <a:ext cx="41148" cy="475488"/>
          </a:xfrm>
          <a:prstGeom prst="roundRect">
            <a:avLst>
              <a:gd name="adj" fmla="val 50000"/>
            </a:avLst>
          </a:prstGeom>
          <a:solidFill>
            <a:srgbClr val="6E7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102352"/>
            <a:ext cx="2286000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E738D"/>
                </a:solidFill>
                <a:latin typeface="Inter"/>
              </a:rPr>
              <a:t>Substrate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5102352"/>
            <a:ext cx="6211519" cy="7680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Arch Linux · systemd · D-Bus · Wayland · Plasma 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0559" y="1481328"/>
            <a:ext cx="1572768" cy="438912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3439" y="1719072"/>
            <a:ext cx="1207008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950" b="1">
                <a:solidFill>
                  <a:srgbClr val="6E738D"/>
                </a:solidFill>
                <a:latin typeface="Inter"/>
              </a:rPr>
              <a:t>THE LOOP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8BD5CA"/>
                </a:solidFill>
                <a:latin typeface="Inter"/>
              </a:rPr>
              <a:t>sense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7DC4E4"/>
                </a:solidFill>
                <a:latin typeface="Inter"/>
              </a:rPr>
              <a:t>normalise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8AADF4"/>
                </a:solidFill>
                <a:latin typeface="Inter"/>
              </a:rPr>
              <a:t>reason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EED49F"/>
                </a:solidFill>
                <a:latin typeface="Inter"/>
              </a:rPr>
              <a:t>check policy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A6DA95"/>
                </a:solidFill>
                <a:latin typeface="Inter"/>
              </a:rPr>
              <a:t>act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C6A0F6"/>
                </a:solidFill>
                <a:latin typeface="Inter"/>
              </a:rPr>
              <a:t>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COMPONENT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Synapse Core: the reasoning daemon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81328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A5ADCB"/>
                </a:solidFill>
                <a:latin typeface="Inter"/>
              </a:rPr>
              <a:t>A user-level systemd service. Never root — privilege comes from explicit capabilities, not from uid 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48256"/>
            <a:ext cx="3490874" cy="162763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41148" cy="1335024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267712"/>
            <a:ext cx="3015386" cy="1225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Planner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Turns intent into a typed action plan. Each step is validated against the policy engine before anything runs.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0410" y="2048256"/>
            <a:ext cx="3490874" cy="162763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50410" y="2194560"/>
            <a:ext cx="41148" cy="1335024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4730" y="2267712"/>
            <a:ext cx="3015386" cy="1225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Memory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Local store of entities, threads and preferences. Domain-scoped, so work context never leaks into personal.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2452" y="2048256"/>
            <a:ext cx="3490874" cy="162763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2452" y="2194560"/>
            <a:ext cx="41148" cy="1335024"/>
          </a:xfrm>
          <a:prstGeom prst="roundRect">
            <a:avLst>
              <a:gd name="adj" fmla="val 50000"/>
            </a:avLst>
          </a:prstGeom>
          <a:solidFill>
            <a:srgbClr val="EED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6772" y="2267712"/>
            <a:ext cx="3015386" cy="1225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Policy engine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The gate every action passes through. Deny-by-default, scoped grants, confirm-before-destructive.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77056"/>
            <a:ext cx="3490874" cy="162763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023360"/>
            <a:ext cx="41148" cy="1335024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096512"/>
            <a:ext cx="3015386" cy="1225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Model router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Routine triage runs on-device (llama.cpp / Ollama). Hard reasoning escalates to a cloud model only on opt-in.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0410" y="3877056"/>
            <a:ext cx="3490874" cy="162763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50410" y="4023360"/>
            <a:ext cx="41148" cy="1335024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4730" y="4096512"/>
            <a:ext cx="3015386" cy="1225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Agent backends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claude-code, codex and opencode already ship in the image and plug in as pluggable executors for code tasks.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2452" y="3877056"/>
            <a:ext cx="3490874" cy="162763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2452" y="4023360"/>
            <a:ext cx="41148" cy="1335024"/>
          </a:xfrm>
          <a:prstGeom prst="roundRect">
            <a:avLst>
              <a:gd name="adj" fmla="val 50000"/>
            </a:avLst>
          </a:prstGeom>
          <a:solidFill>
            <a:srgbClr val="7D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6772" y="4096512"/>
            <a:ext cx="3015386" cy="1225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Event scheduler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Watches triggers — a failed build, a moved deadline, a filling disk — and decides whether to speak 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PERCEPTION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How it sees the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874959" cy="82296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41148" cy="530352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481328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Message ingest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3088" y="1645920"/>
            <a:ext cx="10972" cy="493776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481328"/>
            <a:ext cx="6851599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Connector plugins normalise every account into one event schema: sender, thread, entities, urgency, sensitivity label.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423160"/>
            <a:ext cx="10874959" cy="82296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569464"/>
            <a:ext cx="41148" cy="530352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42316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App &amp; window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3088" y="2587752"/>
            <a:ext cx="10972" cy="493776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423160"/>
            <a:ext cx="6851599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Wayland and Plasma report focus, window titles, idle time and session state — so “this file” and “this window” resolve to something real.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64992"/>
            <a:ext cx="10874959" cy="82296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511296"/>
            <a:ext cx="41148" cy="530352"/>
          </a:xfrm>
          <a:prstGeom prst="roundRect">
            <a:avLst>
              <a:gd name="adj" fmla="val 50000"/>
            </a:avLst>
          </a:prstGeom>
          <a:solidFill>
            <a:srgbClr val="7D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364992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Process 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3088" y="3529584"/>
            <a:ext cx="10972" cy="493776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364992"/>
            <a:ext cx="6851599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Continuous /proc and cgroup sampling: CPU, RSS, disk and network per PID, attributed back to the app that spawned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306824"/>
            <a:ext cx="10874959" cy="82296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453128"/>
            <a:ext cx="41148" cy="530352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306824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Filesystem index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33088" y="4471416"/>
            <a:ext cx="10972" cy="493776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1688" y="4306824"/>
            <a:ext cx="6851599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Incremental inotify-backed index of paths and recent edits. Content is indexed locally, never uploaded by default.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248656"/>
            <a:ext cx="10874959" cy="82296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394960"/>
            <a:ext cx="41148" cy="530352"/>
          </a:xfrm>
          <a:prstGeom prst="roundRect">
            <a:avLst>
              <a:gd name="adj" fmla="val 50000"/>
            </a:avLst>
          </a:prstGeom>
          <a:solidFill>
            <a:srgbClr val="EED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248656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System signals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3088" y="5413248"/>
            <a:ext cx="10972" cy="493776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5248656"/>
            <a:ext cx="6851599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Battery, thermals, disk pressure, unit failures and network state from systemd and D-Bus.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CONNECTORS &amp;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Logging into every app, without holding your passwords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874959" cy="89611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41148" cy="603504"/>
          </a:xfrm>
          <a:prstGeom prst="roundRect">
            <a:avLst>
              <a:gd name="adj" fmla="val 50000"/>
            </a:avLst>
          </a:prstGeom>
          <a:solidFill>
            <a:srgbClr val="ED8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1481328"/>
            <a:ext cx="10051999" cy="8961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Design rule: the model never sees a credential. It requests a scoped action; the identity broker signs and performs the 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15184"/>
            <a:ext cx="3490874" cy="159105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761488"/>
            <a:ext cx="41148" cy="1298448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834640"/>
            <a:ext cx="301538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Identity broker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OAuth tokens and session keys live in the kernel keyring, encrypted at rest. Out-of-process from the model, always.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0410" y="2615184"/>
            <a:ext cx="3490874" cy="159105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50410" y="2761488"/>
            <a:ext cx="41148" cy="1298448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4730" y="2834640"/>
            <a:ext cx="301538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Tier 1 — official APIs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Slack, Gmail, Telegram, Discord, GitHub. Real OAuth scopes, real revocation, no terms-of-service grey area.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2452" y="2615184"/>
            <a:ext cx="3490874" cy="159105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2452" y="2761488"/>
            <a:ext cx="41148" cy="1298448"/>
          </a:xfrm>
          <a:prstGeom prst="roundRect">
            <a:avLst>
              <a:gd name="adj" fmla="val 50000"/>
            </a:avLst>
          </a:prstGeom>
          <a:solidFill>
            <a:srgbClr val="EED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6772" y="2834640"/>
            <a:ext cx="301538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Tier 2 — session bridge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Apps with no API get a user-authorised local bridge, clearly disclosed and individually switchable.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07408"/>
            <a:ext cx="3490874" cy="159105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553712"/>
            <a:ext cx="41148" cy="1298448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626864"/>
            <a:ext cx="301538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Scopes, per connector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Read-only on connect. Sending, deleting and posting each need a separate explicit grant.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0410" y="4407408"/>
            <a:ext cx="3490874" cy="159105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0410" y="4553712"/>
            <a:ext cx="41148" cy="1298448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4730" y="4626864"/>
            <a:ext cx="301538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Revoke in one place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A single panel lists every connector, scope and token, with a one-click disconnect and local data wipe.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2452" y="4407408"/>
            <a:ext cx="3490874" cy="159105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2452" y="4553712"/>
            <a:ext cx="41148" cy="1298448"/>
          </a:xfrm>
          <a:prstGeom prst="roundRect">
            <a:avLst>
              <a:gd name="adj" fmla="val 50000"/>
            </a:avLst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6772" y="4626864"/>
            <a:ext cx="301538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Fail closed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A broker that cannot verify a scope refuses the call. No silent fallback to broader permission.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ACTION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Running and killing processes,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3490874" cy="166420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41148" cy="1371600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700784"/>
            <a:ext cx="3015386" cy="1261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Verbs it exposes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launch · stop · kill · renice · cgroup-throttle · suspend · restart-unit. Each one is a distinct capability, granted separately.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0410" y="1481328"/>
            <a:ext cx="3490874" cy="166420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0410" y="1627632"/>
            <a:ext cx="41148" cy="1371600"/>
          </a:xfrm>
          <a:prstGeom prst="roundRect">
            <a:avLst>
              <a:gd name="adj" fmla="val 50000"/>
            </a:avLst>
          </a:prstGeom>
          <a:solidFill>
            <a:srgbClr val="ED8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4730" y="1700784"/>
            <a:ext cx="3015386" cy="1261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Protected set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PID 1, the session, display server, keyring and the core itself are structurally unkillable — enforced by the broker, not by prompt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2452" y="1481328"/>
            <a:ext cx="3490874" cy="166420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2452" y="1627632"/>
            <a:ext cx="41148" cy="1371600"/>
          </a:xfrm>
          <a:prstGeom prst="roundRect">
            <a:avLst>
              <a:gd name="adj" fmla="val 50000"/>
            </a:avLst>
          </a:prstGeom>
          <a:solidFill>
            <a:srgbClr val="EED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6772" y="1700784"/>
            <a:ext cx="3015386" cy="1261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Confirm, then remember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Destructive actions ask once with a plain-language summary. Approve a pattern and it runs unattended next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83280"/>
            <a:ext cx="3490874" cy="166420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529584"/>
            <a:ext cx="41148" cy="1371600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2736"/>
            <a:ext cx="3015386" cy="1261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Explain before acting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“chrome_crashpad, 180% CPU for 40 minutes, ~18% of your battery today.” You see the reasoning, then decide.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0410" y="3383280"/>
            <a:ext cx="3490874" cy="166420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50410" y="3529584"/>
            <a:ext cx="41148" cy="1371600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4730" y="3602736"/>
            <a:ext cx="3015386" cy="1261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Reversible where possible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Prefer throttle over kill and suspend over terminate. Killing something unsaved requires an explicit override.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2452" y="3383280"/>
            <a:ext cx="3490874" cy="166420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2452" y="3529584"/>
            <a:ext cx="41148" cy="1371600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6772" y="3602736"/>
            <a:ext cx="3015386" cy="1261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Everything audited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Who asked, what was run, which capability authorised it, what changed. Append-only, readable by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MESSAGE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Every message, one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874959" cy="82296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41148" cy="530352"/>
          </a:xfrm>
          <a:prstGeom prst="roundRect">
            <a:avLst>
              <a:gd name="adj" fmla="val 50000"/>
            </a:avLst>
          </a:prstGeom>
          <a:solidFill>
            <a:srgbClr val="7D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481328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Unified 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3088" y="1645920"/>
            <a:ext cx="10972" cy="493776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481328"/>
            <a:ext cx="6851599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All connectors collapse into a single chronological view, deduplicated across apps when the same thread arrives twice.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423160"/>
            <a:ext cx="10874959" cy="82296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569464"/>
            <a:ext cx="41148" cy="530352"/>
          </a:xfrm>
          <a:prstGeom prst="roundRect">
            <a:avLst>
              <a:gd name="adj" fmla="val 50000"/>
            </a:avLst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42316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Triage, not summarising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3088" y="2587752"/>
            <a:ext cx="10972" cy="493776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423160"/>
            <a:ext cx="6851599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Sorted by who is blocked, what has a deadline and what is genuinely FYI — rather than by arrival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64992"/>
            <a:ext cx="10874959" cy="82296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511296"/>
            <a:ext cx="41148" cy="530352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364992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Entity linking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3088" y="3529584"/>
            <a:ext cx="10972" cy="493776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364992"/>
            <a:ext cx="6851599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People, projects, files and commits are resolved across apps, so a Slack thread and a Telegram DM about the same thing connect.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306824"/>
            <a:ext cx="10874959" cy="82296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453128"/>
            <a:ext cx="41148" cy="530352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306824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Draft-only by default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33088" y="4471416"/>
            <a:ext cx="10972" cy="493776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1688" y="4306824"/>
            <a:ext cx="6851599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Replies are written in your voice and shown to you. Auto-send stays off until you enable it per contact.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248656"/>
            <a:ext cx="10874959" cy="82296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394960"/>
            <a:ext cx="41148" cy="530352"/>
          </a:xfrm>
          <a:prstGeom prst="roundRect">
            <a:avLst>
              <a:gd name="adj" fmla="val 50000"/>
            </a:avLst>
          </a:prstGeom>
          <a:solidFill>
            <a:srgbClr val="ED8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248656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Message content is untrusted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3088" y="5413248"/>
            <a:ext cx="10972" cy="493776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5248656"/>
            <a:ext cx="6851599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Incoming text is data, never instruction. A message asking the assistant to run something cannot cause a tool call.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TRUST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The user holds the leash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719072"/>
            <a:ext cx="2942234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8BD5CA"/>
                </a:solidFill>
                <a:latin typeface="Inter"/>
              </a:rPr>
              <a:t>OBSERVE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CAD3F5"/>
                </a:solidFill>
                <a:latin typeface="Inter"/>
              </a:rPr>
              <a:t>Perceives and answers. Zero side effects.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E738D"/>
                </a:solidFill>
                <a:latin typeface="Inter"/>
              </a:rPr>
              <a:t>Default on first boot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0410" y="1481328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0410" y="1627632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EED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3018" y="1719072"/>
            <a:ext cx="2942234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EED49F"/>
                </a:solidFill>
                <a:latin typeface="Inter"/>
              </a:rPr>
              <a:t>ASSIST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CAD3F5"/>
                </a:solidFill>
                <a:latin typeface="Inter"/>
              </a:rPr>
              <a:t>Drafts, stages and proposes. You confirm each effect.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E738D"/>
                </a:solidFill>
                <a:latin typeface="Inter"/>
              </a:rPr>
              <a:t>Everyday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2452" y="1481328"/>
            <a:ext cx="3490874" cy="170078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2452" y="1627632"/>
            <a:ext cx="41148" cy="1408176"/>
          </a:xfrm>
          <a:prstGeom prst="roundRect">
            <a:avLst>
              <a:gd name="adj" fmla="val 50000"/>
            </a:avLst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5060" y="1719072"/>
            <a:ext cx="2942234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A97F"/>
                </a:solidFill>
                <a:latin typeface="Inter"/>
              </a:rPr>
              <a:t>ACT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CAD3F5"/>
                </a:solidFill>
                <a:latin typeface="Inter"/>
              </a:rPr>
              <a:t>Executes approved patterns unattended, inside scope.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E738D"/>
                </a:solidFill>
                <a:latin typeface="Inter"/>
              </a:rPr>
              <a:t>Opt-in, per capability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56432"/>
            <a:ext cx="10874959" cy="74980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602736"/>
            <a:ext cx="41148" cy="457200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56432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Capability tokens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3088" y="3621024"/>
            <a:ext cx="10972" cy="42062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3456432"/>
            <a:ext cx="6851599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Every grant is a tuple of resource, verb and duration. “Read Telegram for 7 days” is a different token from “send as me”.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25112"/>
            <a:ext cx="10874959" cy="74980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471416"/>
            <a:ext cx="41148" cy="457200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325112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Consent in plain words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3088" y="4489704"/>
            <a:ext cx="10972" cy="42062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4325112"/>
            <a:ext cx="6851599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The prompt states the concrete effect, not a permission category: “Send this message to Arjun on Telegram now.”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193792"/>
            <a:ext cx="10874959" cy="74980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5340096"/>
            <a:ext cx="41148" cy="457200"/>
          </a:xfrm>
          <a:prstGeom prst="roundRect">
            <a:avLst>
              <a:gd name="adj" fmla="val 50000"/>
            </a:avLst>
          </a:prstGeom>
          <a:solidFill>
            <a:srgbClr val="ED8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193792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nter"/>
              </a:rPr>
              <a:t>Kill switch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33088" y="5358384"/>
            <a:ext cx="10972" cy="42062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8" y="5193792"/>
            <a:ext cx="6851599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One shortcut suspends all perception and action instantly, and the state is visible in the panel at all times.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PRIVACY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Local-first, and honest about the blast radius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874959" cy="822960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41148" cy="530352"/>
          </a:xfrm>
          <a:prstGeom prst="roundRect">
            <a:avLst>
              <a:gd name="adj" fmla="val 50000"/>
            </a:avLst>
          </a:prstGeom>
          <a:solidFill>
            <a:srgbClr val="ED8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1481328"/>
            <a:ext cx="10051999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Stated threat model: an assistant with this much reach is a high-value target. A compromise here is a total compromise — so the architecture assumes it will be attacked.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42032"/>
            <a:ext cx="3490874" cy="157276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688336"/>
            <a:ext cx="41148" cy="1280160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61488"/>
            <a:ext cx="301538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Data stays home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Perception data never leaves the device by default. Cloud calls are per-task, opt-in, and shown to you when they happen.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0410" y="2542032"/>
            <a:ext cx="3490874" cy="157276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50410" y="2688336"/>
            <a:ext cx="41148" cy="1280160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4730" y="2761488"/>
            <a:ext cx="301538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On-device inference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Triage, classification and routine drafting run locally, so the common path involves no network at 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2452" y="2542032"/>
            <a:ext cx="3490874" cy="157276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2452" y="2688336"/>
            <a:ext cx="41148" cy="1280160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6772" y="2761488"/>
            <a:ext cx="301538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Sensitivity labels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OTPs, keys and banking content are tagged at ingest and excluded from model context and from any remote call.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315968"/>
            <a:ext cx="3490874" cy="157276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4462272"/>
            <a:ext cx="41148" cy="1280160"/>
          </a:xfrm>
          <a:prstGeom prst="roundRect">
            <a:avLst>
              <a:gd name="adj" fmla="val 50000"/>
            </a:avLst>
          </a:prstGeom>
          <a:solidFill>
            <a:srgbClr val="EED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535424"/>
            <a:ext cx="301538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Least privilege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The core runs unprivileged; connectors are sandboxed per-app, so one bad connector cannot reach another's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0410" y="4315968"/>
            <a:ext cx="3490874" cy="157276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0410" y="4462272"/>
            <a:ext cx="41148" cy="1280160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4730" y="4535424"/>
            <a:ext cx="301538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Readable audit log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Append-only record of every perception source and every action, exportable and inspectable without special tooling.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2452" y="4315968"/>
            <a:ext cx="3490874" cy="157276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2452" y="4462272"/>
            <a:ext cx="41148" cy="1280160"/>
          </a:xfrm>
          <a:prstGeom prst="roundRect">
            <a:avLst>
              <a:gd name="adj" fmla="val 50000"/>
            </a:avLst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6772" y="4535424"/>
            <a:ext cx="301538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Inter"/>
              </a:rPr>
              <a:t>Injection resistance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Untrusted content is fenced from the instruction channel; destructive verbs always require a human-confirmed capability.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Built on things that already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81328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A5ADCB"/>
                </a:solidFill>
                <a:latin typeface="Inter"/>
              </a:rPr>
              <a:t>The base distribution exists today: an archiso profile shipping Plasma 6 and three agent CLIs. The AI layer is the next build on top.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84832"/>
            <a:ext cx="5336895" cy="80467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231136"/>
            <a:ext cx="41148" cy="512064"/>
          </a:xfrm>
          <a:prstGeom prst="roundRect">
            <a:avLst>
              <a:gd name="adj" fmla="val 50000"/>
            </a:avLst>
          </a:prstGeom>
          <a:solidFill>
            <a:srgbClr val="6E7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084832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E738D"/>
                </a:solidFill>
                <a:latin typeface="Inter"/>
              </a:rPr>
              <a:t>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084832"/>
            <a:ext cx="3370935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Arch Linux · archiso · Calamares installer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2084832"/>
            <a:ext cx="5336895" cy="80467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6431" y="2231136"/>
            <a:ext cx="41148" cy="512064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0751" y="2084832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AADF4"/>
                </a:solidFill>
                <a:latin typeface="Inter"/>
              </a:rPr>
              <a:t>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8071" y="2084832"/>
            <a:ext cx="3370935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Plasma 6 on Wayland · Catppuccin Macchiato · SDDM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17520"/>
            <a:ext cx="5336895" cy="80467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163824"/>
            <a:ext cx="41148" cy="512064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017520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BD5CA"/>
                </a:solidFill>
                <a:latin typeface="Inter"/>
              </a:rPr>
              <a:t>Plumbing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3017520"/>
            <a:ext cx="3370935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systemd user units · D-Bus IPC · cgroups v2 · inotify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6431" y="3017520"/>
            <a:ext cx="5336895" cy="80467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6431" y="3163824"/>
            <a:ext cx="41148" cy="512064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0751" y="3017520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6A0F6"/>
                </a:solidFill>
                <a:latin typeface="Inter"/>
              </a:rPr>
              <a:t>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8071" y="3017520"/>
            <a:ext cx="3370935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Rust daemon · Python connector SDK · SQLite + vector index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950208"/>
            <a:ext cx="5336895" cy="80467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4096512"/>
            <a:ext cx="41148" cy="512064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950208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A6DA95"/>
                </a:solidFill>
                <a:latin typeface="Inter"/>
              </a:rPr>
              <a:t>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0008" y="3950208"/>
            <a:ext cx="3370935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Ollama / llama.cpp local · cloud escalation on opt-in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6431" y="3950208"/>
            <a:ext cx="5336895" cy="80467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6431" y="4096512"/>
            <a:ext cx="41148" cy="512064"/>
          </a:xfrm>
          <a:prstGeom prst="roundRect">
            <a:avLst>
              <a:gd name="adj" fmla="val 50000"/>
            </a:avLst>
          </a:prstGeom>
          <a:solidFill>
            <a:srgbClr val="EED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0751" y="3950208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ED49F"/>
                </a:solidFill>
                <a:latin typeface="Inter"/>
              </a:rPr>
              <a:t>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8071" y="3950208"/>
            <a:ext cx="3370935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claude-code · codex · opencode as pluggable executors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882896"/>
            <a:ext cx="5336895" cy="80467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" y="5029200"/>
            <a:ext cx="41148" cy="512064"/>
          </a:xfrm>
          <a:prstGeom prst="roundRect">
            <a:avLst>
              <a:gd name="adj" fmla="val 50000"/>
            </a:avLst>
          </a:prstGeom>
          <a:solidFill>
            <a:srgbClr val="7D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882896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DC4E4"/>
                </a:solidFill>
                <a:latin typeface="Inter"/>
              </a:rPr>
              <a:t>Secrets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50008" y="4882896"/>
            <a:ext cx="3370935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kernel keyring · per-connector sandbox · OAuth broker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6431" y="4882896"/>
            <a:ext cx="5336895" cy="804672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96431" y="5029200"/>
            <a:ext cx="41148" cy="512064"/>
          </a:xfrm>
          <a:prstGeom prst="roundRect">
            <a:avLst>
              <a:gd name="adj" fmla="val 50000"/>
            </a:avLst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0751" y="4882896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5A97F"/>
                </a:solidFill>
                <a:latin typeface="Inter"/>
              </a:rPr>
              <a:t>Packaging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8071" y="4882896"/>
            <a:ext cx="3370935" cy="8046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pacman repo · reproducible ISO · signed connector plugins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From distro to AI-native 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874959" cy="85953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41148" cy="566928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1696212"/>
            <a:ext cx="429768" cy="429768"/>
          </a:xfrm>
          <a:prstGeom prst="roundRect">
            <a:avLst>
              <a:gd name="adj" fmla="val 22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805940"/>
            <a:ext cx="4297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A6DA95"/>
                </a:solidFill>
                <a:latin typeface="DejaVu Sans Mono"/>
              </a:rPr>
              <a:t>P0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481328"/>
            <a:ext cx="1737360" cy="8595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481328"/>
            <a:ext cx="6668719" cy="8595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Arch + Plasma 6 image, Calamares installer, agent CLIs preinstalled.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62895" y="1755648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62895" y="1824228"/>
            <a:ext cx="8961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A6DA95"/>
                </a:solidFill>
                <a:latin typeface="Inter"/>
              </a:rPr>
              <a:t>Shipping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468880"/>
            <a:ext cx="10874959" cy="85953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2615184"/>
            <a:ext cx="41148" cy="566928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" y="2683764"/>
            <a:ext cx="429768" cy="429768"/>
          </a:xfrm>
          <a:prstGeom prst="roundRect">
            <a:avLst>
              <a:gd name="adj" fmla="val 22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793492"/>
            <a:ext cx="4297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8BD5CA"/>
                </a:solidFill>
                <a:latin typeface="DejaVu Sans Mono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2468880"/>
            <a:ext cx="1737360" cy="8595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Perception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468880"/>
            <a:ext cx="6668719" cy="8595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Process and window telemetry, event schema, first two connectors, unified timeline.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62895" y="274320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62895" y="2811780"/>
            <a:ext cx="8961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8BD5CA"/>
                </a:solidFill>
                <a:latin typeface="Inter"/>
              </a:rPr>
              <a:t>Next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56432"/>
            <a:ext cx="10874959" cy="85953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3602736"/>
            <a:ext cx="41148" cy="566928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671316"/>
            <a:ext cx="429768" cy="429768"/>
          </a:xfrm>
          <a:prstGeom prst="roundRect">
            <a:avLst>
              <a:gd name="adj" fmla="val 22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781044"/>
            <a:ext cx="4297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8AADF4"/>
                </a:solidFill>
                <a:latin typeface="DejaVu Sans Mono"/>
              </a:rPr>
              <a:t>P2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3456432"/>
            <a:ext cx="1737360" cy="8595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8" y="3456432"/>
            <a:ext cx="6668719" cy="8595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Capability engine, consent UI, process control, draft replies, audit log.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443984"/>
            <a:ext cx="10874959" cy="85953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4590288"/>
            <a:ext cx="41148" cy="566928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2688" y="4658868"/>
            <a:ext cx="429768" cy="429768"/>
          </a:xfrm>
          <a:prstGeom prst="roundRect">
            <a:avLst>
              <a:gd name="adj" fmla="val 22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768596"/>
            <a:ext cx="4297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C6A0F6"/>
                </a:solidFill>
                <a:latin typeface="DejaVu Sans Mono"/>
              </a:rPr>
              <a:t>P3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4443984"/>
            <a:ext cx="1737360" cy="8595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Autonomy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4443984"/>
            <a:ext cx="6668719" cy="8595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Proactive briefings, multi-step plans, local model routing, learned approvals.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31536"/>
            <a:ext cx="10874959" cy="859536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5577840"/>
            <a:ext cx="41148" cy="566928"/>
          </a:xfrm>
          <a:prstGeom prst="roundRect">
            <a:avLst>
              <a:gd name="adj" fmla="val 50000"/>
            </a:avLst>
          </a:prstGeom>
          <a:solidFill>
            <a:srgbClr val="EED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2688" y="5646420"/>
            <a:ext cx="429768" cy="429768"/>
          </a:xfrm>
          <a:prstGeom prst="roundRect">
            <a:avLst>
              <a:gd name="adj" fmla="val 22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5756148"/>
            <a:ext cx="42976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ED49F"/>
                </a:solidFill>
                <a:latin typeface="DejaVu Sans Mono"/>
              </a:rPr>
              <a:t>P4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7048" y="5431536"/>
            <a:ext cx="1737360" cy="8595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Ecosystem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5431536"/>
            <a:ext cx="6668719" cy="8595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A5ADCB"/>
                </a:solidFill>
                <a:latin typeface="Inter"/>
              </a:rPr>
              <a:t>Public connector SDK, signed third-party plugins, org policy profiles.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6A0F6"/>
                </a:solidFill>
                <a:latin typeface="Inter"/>
              </a:rPr>
              <a:t>RISKS &amp;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"/>
              </a:rPr>
              <a:t>What could go wrong, and the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371600" cy="32004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SynapseOS  ·  AI-native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574536"/>
            <a:ext cx="543747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738D"/>
                </a:solidFill>
                <a:latin typeface="Inter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874959" cy="384048"/>
          </a:xfrm>
          <a:prstGeom prst="roundRect">
            <a:avLst>
              <a:gd name="adj" fmla="val 12000"/>
            </a:avLst>
          </a:prstGeom>
          <a:solidFill>
            <a:srgbClr val="3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481328"/>
            <a:ext cx="40233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5ADCB"/>
                </a:solidFill>
                <a:latin typeface="Inter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1481328"/>
            <a:ext cx="64008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5ADCB"/>
                </a:solidFill>
                <a:latin typeface="Inter"/>
              </a:rPr>
              <a:t>MITIGATION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75104"/>
            <a:ext cx="10874959" cy="60350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121408"/>
            <a:ext cx="41148" cy="310896"/>
          </a:xfrm>
          <a:prstGeom prst="roundRect">
            <a:avLst>
              <a:gd name="adj" fmla="val 50000"/>
            </a:avLst>
          </a:prstGeom>
          <a:solidFill>
            <a:srgbClr val="ED8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1975104"/>
            <a:ext cx="397763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Credential blast radius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3208" y="2093976"/>
            <a:ext cx="10972" cy="365760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1975104"/>
            <a:ext cx="584575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Broker-held tokens in the kernel keyring; the model never holds one; per-scope grants and one-click revocation.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670048"/>
            <a:ext cx="10874959" cy="60350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2816352"/>
            <a:ext cx="41148" cy="310896"/>
          </a:xfrm>
          <a:prstGeom prst="roundRect">
            <a:avLst>
              <a:gd name="adj" fmla="val 50000"/>
            </a:avLst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2670048"/>
            <a:ext cx="397763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Prompt injection via messages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93208" y="2788920"/>
            <a:ext cx="10972" cy="365760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1808" y="2670048"/>
            <a:ext cx="584575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Incoming content is data, not instruction. No tool call originates from message text; destructive verbs need human confirmation.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64992"/>
            <a:ext cx="10874959" cy="60350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3511296"/>
            <a:ext cx="41148" cy="310896"/>
          </a:xfrm>
          <a:prstGeom prst="roundRect">
            <a:avLst>
              <a:gd name="adj" fmla="val 50000"/>
            </a:avLst>
          </a:prstGeom>
          <a:solidFill>
            <a:srgbClr val="EED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3364992"/>
            <a:ext cx="397763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Hallucinated destructive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93208" y="3483864"/>
            <a:ext cx="10972" cy="365760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1808" y="3364992"/>
            <a:ext cx="584575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Deny-by-default capabilities, a structurally protected process set, reversible verbs preferred, undo where possible.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059936"/>
            <a:ext cx="10874959" cy="60350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4206240"/>
            <a:ext cx="41148" cy="310896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4059936"/>
            <a:ext cx="397763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Unofficial app bridges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93208" y="4178808"/>
            <a:ext cx="10972" cy="365760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21808" y="4059936"/>
            <a:ext cx="584575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Official APIs first; bridges are opt-in, disclosed and individually switchable, with the trade-off stated plainly.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754880"/>
            <a:ext cx="10874959" cy="60350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4901184"/>
            <a:ext cx="41148" cy="310896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4754880"/>
            <a:ext cx="397763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Local model quality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8" y="4873752"/>
            <a:ext cx="10972" cy="365760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21808" y="4754880"/>
            <a:ext cx="584575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Route by difficulty: on-device for triage, escalate hard reasoning to a stronger model with explicit consent.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49824"/>
            <a:ext cx="10874959" cy="603504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5596128"/>
            <a:ext cx="41148" cy="310896"/>
          </a:xfrm>
          <a:prstGeom prst="roundRect">
            <a:avLst>
              <a:gd name="adj" fmla="val 50000"/>
            </a:avLst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5449824"/>
            <a:ext cx="397763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Always-on telemetry cost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93208" y="5568696"/>
            <a:ext cx="10972" cy="365760"/>
          </a:xfrm>
          <a:prstGeom prst="rect">
            <a:avLst/>
          </a:prstGeom>
          <a:solidFill>
            <a:srgbClr val="49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21808" y="5449824"/>
            <a:ext cx="584575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Adaptive sampling and idle backoff; the perception budget is visible and capped by the user.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6A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6A0F6"/>
                </a:solidFill>
                <a:latin typeface="Inter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nter"/>
              </a:rPr>
              <a:t>The assistant should live in
the OS, not in a tab.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657600"/>
            <a:ext cx="3490874" cy="175564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3803904"/>
            <a:ext cx="41148" cy="1463040"/>
          </a:xfrm>
          <a:prstGeom prst="roundRect">
            <a:avLst>
              <a:gd name="adj" fmla="val 50000"/>
            </a:avLst>
          </a:prstGeom>
          <a:solidFill>
            <a:srgbClr val="8B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895344"/>
            <a:ext cx="2923946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Local models got good enough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Triage and drafting now run on consumer hardware, which makes an always-on perception layer viable without shipping your life to a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0410" y="3657600"/>
            <a:ext cx="3490874" cy="175564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0410" y="3803904"/>
            <a:ext cx="41148" cy="1463040"/>
          </a:xfrm>
          <a:prstGeom prst="roundRect">
            <a:avLst>
              <a:gd name="adj" fmla="val 50000"/>
            </a:avLst>
          </a:prstGeom>
          <a:solidFill>
            <a:srgbClr val="8AA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3018" y="3895344"/>
            <a:ext cx="2923946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Capable agents already exist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Tool-using coding agents ship in this image today. What they lack is a system-level view and a permission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2452" y="3657600"/>
            <a:ext cx="3490874" cy="1755648"/>
          </a:xfrm>
          <a:prstGeom prst="roundRect">
            <a:avLst>
              <a:gd name="adj" fmla="val 5500"/>
            </a:avLst>
          </a:prstGeom>
          <a:solidFill>
            <a:srgbClr val="1E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2452" y="3803904"/>
            <a:ext cx="41148" cy="1463040"/>
          </a:xfrm>
          <a:prstGeom prst="roundRect">
            <a:avLst>
              <a:gd name="adj" fmla="val 50000"/>
            </a:avLst>
          </a:prstGeom>
          <a:solidFill>
            <a:srgbClr val="A6D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5060" y="3895344"/>
            <a:ext cx="2923946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Arch gives full control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>
                <a:solidFill>
                  <a:srgbClr val="A5ADCB"/>
                </a:solidFill>
                <a:latin typeface="Inter"/>
              </a:rPr>
              <a:t>No vendor assistant to work around. The distro owns the desktop, the services and the packaging end to 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521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738D"/>
                </a:solidFill>
                <a:latin typeface="Inter"/>
              </a:rPr>
              <a:t>SynapseOS  ·  an Arch-based, AI-native operating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